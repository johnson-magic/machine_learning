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14"/>
  </p:handoutMasterIdLst>
  <p:sldIdLst>
    <p:sldId id="256" r:id="rId3"/>
    <p:sldId id="257" r:id="rId4"/>
    <p:sldId id="259" r:id="rId6"/>
    <p:sldId id="258" r:id="rId7"/>
    <p:sldId id="260" r:id="rId8"/>
    <p:sldId id="261" r:id="rId9"/>
    <p:sldId id="263" r:id="rId10"/>
    <p:sldId id="264" r:id="rId11"/>
    <p:sldId id="265" r:id="rId12"/>
    <p:sldId id="266" r:id="rId1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ntsig" initials="i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8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commentAuthors" Target="commentAuthors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transformer</a:t>
            </a:r>
            <a:r>
              <a:rPr lang="zh-CN" altLang="en-US"/>
              <a:t>源码阅读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CN" altLang="en-US"/>
              <a:t>张腾</a:t>
            </a:r>
            <a:endParaRPr lang="zh-CN" altLang="en-US"/>
          </a:p>
          <a:p>
            <a:r>
              <a:rPr lang="en-US" altLang="zh-CN"/>
              <a:t>2021</a:t>
            </a:r>
            <a:r>
              <a:rPr lang="zh-CN" altLang="en-US"/>
              <a:t>年</a:t>
            </a:r>
            <a:r>
              <a:rPr lang="en-US" altLang="zh-CN"/>
              <a:t>1</a:t>
            </a:r>
            <a:r>
              <a:rPr lang="zh-CN" altLang="en-US"/>
              <a:t>月</a:t>
            </a:r>
            <a:r>
              <a:rPr lang="en-US" altLang="zh-CN"/>
              <a:t>12</a:t>
            </a:r>
            <a:r>
              <a:rPr lang="zh-CN" altLang="en-US"/>
              <a:t>日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/>
          <p:nvPr/>
        </p:nvSpPr>
        <p:spPr>
          <a:xfrm>
            <a:off x="796290" y="918845"/>
            <a:ext cx="1286510" cy="43497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语料</a:t>
            </a:r>
            <a:r>
              <a:rPr lang="en-US" altLang="zh-CN" sz="1200">
                <a:solidFill>
                  <a:schemeClr val="tx1"/>
                </a:solidFill>
              </a:rPr>
              <a:t>(corpus)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2647315" y="142240"/>
            <a:ext cx="1544320" cy="43434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形成字典</a:t>
            </a:r>
            <a:endParaRPr lang="zh-CN" altLang="en-US" sz="1200">
              <a:solidFill>
                <a:schemeClr val="tx1"/>
              </a:solidFill>
            </a:endParaRPr>
          </a:p>
          <a:p>
            <a:pPr algn="ctr"/>
            <a:r>
              <a:rPr lang="en-US" altLang="zh-CN" sz="1200">
                <a:solidFill>
                  <a:schemeClr val="tx1"/>
                </a:solidFill>
              </a:rPr>
              <a:t>{k=word, v=first}</a:t>
            </a:r>
            <a:endParaRPr lang="en-US" altLang="zh-CN" sz="1200">
              <a:solidFill>
                <a:schemeClr val="tx1"/>
              </a:solidFill>
            </a:endParaRPr>
          </a:p>
        </p:txBody>
      </p:sp>
      <p:cxnSp>
        <p:nvCxnSpPr>
          <p:cNvPr id="8" name="直接箭头连接符 7"/>
          <p:cNvCxnSpPr>
            <a:stCxn id="6" idx="3"/>
            <a:endCxn id="7" idx="1"/>
          </p:cNvCxnSpPr>
          <p:nvPr/>
        </p:nvCxnSpPr>
        <p:spPr>
          <a:xfrm flipV="1">
            <a:off x="2082800" y="359410"/>
            <a:ext cx="564515" cy="77724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2647315" y="919480"/>
            <a:ext cx="1544320" cy="43434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token</a:t>
            </a:r>
            <a:r>
              <a:rPr lang="zh-CN" altLang="en-US" sz="1200">
                <a:solidFill>
                  <a:schemeClr val="tx1"/>
                </a:solidFill>
              </a:rPr>
              <a:t>化</a:t>
            </a:r>
            <a:endParaRPr lang="zh-CN" altLang="en-US" sz="1200">
              <a:solidFill>
                <a:schemeClr val="tx1"/>
              </a:solidFill>
            </a:endParaRPr>
          </a:p>
        </p:txBody>
      </p:sp>
      <p:cxnSp>
        <p:nvCxnSpPr>
          <p:cNvPr id="10" name="直接箭头连接符 9"/>
          <p:cNvCxnSpPr>
            <a:stCxn id="6" idx="3"/>
            <a:endCxn id="9" idx="1"/>
          </p:cNvCxnSpPr>
          <p:nvPr/>
        </p:nvCxnSpPr>
        <p:spPr>
          <a:xfrm>
            <a:off x="2082800" y="1136650"/>
            <a:ext cx="56451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3419475" y="576580"/>
            <a:ext cx="0" cy="34290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0590" y="3867785"/>
            <a:ext cx="6534150" cy="200025"/>
          </a:xfrm>
          <a:prstGeom prst="rect">
            <a:avLst/>
          </a:prstGeom>
        </p:spPr>
      </p:pic>
      <p:graphicFrame>
        <p:nvGraphicFramePr>
          <p:cNvPr id="14" name="表格 13"/>
          <p:cNvGraphicFramePr/>
          <p:nvPr/>
        </p:nvGraphicFramePr>
        <p:xfrm>
          <a:off x="910590" y="4272280"/>
          <a:ext cx="5433695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235"/>
                <a:gridCol w="975360"/>
                <a:gridCol w="835025"/>
                <a:gridCol w="710565"/>
                <a:gridCol w="1083945"/>
                <a:gridCol w="9645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</a:rPr>
                        <a:t>‘=’(0)</a:t>
                      </a:r>
                      <a:endParaRPr lang="en-US" altLang="zh-CN" sz="10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</a:rPr>
                        <a:t>‘Gameplay’(1)</a:t>
                      </a:r>
                      <a:endParaRPr lang="en-US" altLang="zh-CN" sz="10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</a:rPr>
                        <a:t>‘&lt;eos&gt;’(2)</a:t>
                      </a:r>
                      <a:endParaRPr lang="en-US" altLang="zh-CN" sz="10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</a:rPr>
                        <a:t>‘As’(3)</a:t>
                      </a:r>
                      <a:endParaRPr lang="en-US" altLang="zh-CN" sz="10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</a:rPr>
                        <a:t>‘with’(4)</a:t>
                      </a:r>
                      <a:endParaRPr lang="en-US" altLang="zh-CN" sz="10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</a:rPr>
                        <a:t>‘previous’(5)</a:t>
                      </a:r>
                      <a:endParaRPr lang="en-US" altLang="zh-CN" sz="10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</a:rPr>
                        <a:t>‘&lt;unk&gt;’(6)</a:t>
                      </a:r>
                      <a:endParaRPr lang="en-US" altLang="zh-CN" sz="10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</a:rPr>
                        <a:t>‘Chronicles’(7)</a:t>
                      </a:r>
                      <a:endParaRPr lang="en-US" altLang="zh-CN" sz="10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</a:rPr>
                        <a:t>‘games’(8)</a:t>
                      </a:r>
                      <a:endParaRPr lang="en-US" altLang="zh-CN" sz="10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</a:rPr>
                        <a:t>‘,’(9)</a:t>
                      </a:r>
                      <a:endParaRPr lang="en-US" altLang="zh-CN" sz="10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</a:rPr>
                        <a:t>‘Valkyria’(10)</a:t>
                      </a:r>
                      <a:endParaRPr lang="en-US" altLang="zh-CN" sz="10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</a:rPr>
                        <a:t>‘III’(11)</a:t>
                      </a:r>
                      <a:endParaRPr lang="en-US" altLang="zh-CN" sz="10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796290" y="5339715"/>
            <a:ext cx="90614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 = = Gameplay = = </a:t>
            </a:r>
            <a:endParaRPr lang="zh-CN" altLang="en-US" sz="1200"/>
          </a:p>
          <a:p>
            <a:r>
              <a:rPr lang="zh-CN" altLang="en-US" sz="1200"/>
              <a:t> </a:t>
            </a:r>
            <a:endParaRPr lang="zh-CN" altLang="en-US" sz="1200"/>
          </a:p>
          <a:p>
            <a:r>
              <a:rPr lang="zh-CN" altLang="en-US" sz="1200"/>
              <a:t> As with previous &lt;unk&gt; Chronicles games , Valkyria Chronicles III</a:t>
            </a:r>
            <a:endParaRPr lang="zh-CN" altLang="en-US" sz="1200"/>
          </a:p>
        </p:txBody>
      </p:sp>
      <p:sp>
        <p:nvSpPr>
          <p:cNvPr id="16" name="矩形 15"/>
          <p:cNvSpPr/>
          <p:nvPr/>
        </p:nvSpPr>
        <p:spPr>
          <a:xfrm>
            <a:off x="4717415" y="919480"/>
            <a:ext cx="1544320" cy="43434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batch</a:t>
            </a:r>
            <a:r>
              <a:rPr lang="zh-CN" altLang="en-US" sz="1200">
                <a:solidFill>
                  <a:schemeClr val="tx1"/>
                </a:solidFill>
              </a:rPr>
              <a:t>化</a:t>
            </a:r>
            <a:r>
              <a:rPr lang="zh-CN" altLang="en-US" sz="1200" baseline="30000">
                <a:solidFill>
                  <a:schemeClr val="tx1"/>
                </a:solidFill>
                <a:uFillTx/>
              </a:rPr>
              <a:t>注</a:t>
            </a:r>
            <a:r>
              <a:rPr lang="en-US" altLang="zh-CN" sz="1200">
                <a:solidFill>
                  <a:schemeClr val="tx1"/>
                </a:solidFill>
              </a:rPr>
              <a:t>(len*bs)</a:t>
            </a:r>
            <a:endParaRPr lang="en-US" altLang="zh-CN" sz="1200">
              <a:solidFill>
                <a:schemeClr val="tx1"/>
              </a:solidFill>
            </a:endParaRPr>
          </a:p>
        </p:txBody>
      </p:sp>
      <p:cxnSp>
        <p:nvCxnSpPr>
          <p:cNvPr id="17" name="直接箭头连接符 16"/>
          <p:cNvCxnSpPr>
            <a:stCxn id="9" idx="3"/>
            <a:endCxn id="16" idx="1"/>
          </p:cNvCxnSpPr>
          <p:nvPr/>
        </p:nvCxnSpPr>
        <p:spPr>
          <a:xfrm>
            <a:off x="4191635" y="1136650"/>
            <a:ext cx="52578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2025" y="4270375"/>
            <a:ext cx="3952875" cy="171450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910590" y="6300470"/>
            <a:ext cx="108959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注：</a:t>
            </a:r>
            <a:r>
              <a:rPr lang="en-US" altLang="zh-CN" sz="1200"/>
              <a:t>1. batch</a:t>
            </a:r>
            <a:r>
              <a:rPr lang="zh-CN" altLang="en-US" sz="1200"/>
              <a:t>化的维度物理意义</a:t>
            </a:r>
            <a:endParaRPr lang="zh-CN" altLang="en-US" sz="1200"/>
          </a:p>
          <a:p>
            <a:r>
              <a:rPr lang="zh-CN" altLang="en-US" sz="1200"/>
              <a:t>注：</a:t>
            </a:r>
            <a:r>
              <a:rPr lang="en-US" altLang="zh-CN" sz="1200"/>
              <a:t>2. </a:t>
            </a:r>
            <a:r>
              <a:rPr lang="zh-CN" altLang="en-US" sz="1200"/>
              <a:t>构建</a:t>
            </a:r>
            <a:r>
              <a:rPr lang="en-US" altLang="zh-CN" sz="1200"/>
              <a:t>transformer</a:t>
            </a:r>
            <a:r>
              <a:rPr lang="zh-CN" altLang="en-US" sz="1200"/>
              <a:t>的过程在其他页</a:t>
            </a:r>
            <a:r>
              <a:rPr lang="en-US" altLang="zh-CN" sz="1200"/>
              <a:t>ppt</a:t>
            </a:r>
            <a:r>
              <a:rPr lang="zh-CN" altLang="en-US" sz="1200"/>
              <a:t>中展示</a:t>
            </a:r>
            <a:endParaRPr lang="zh-CN" altLang="en-US" sz="1200"/>
          </a:p>
        </p:txBody>
      </p:sp>
      <p:sp>
        <p:nvSpPr>
          <p:cNvPr id="21" name="矩形 20"/>
          <p:cNvSpPr/>
          <p:nvPr/>
        </p:nvSpPr>
        <p:spPr>
          <a:xfrm>
            <a:off x="2352040" y="5080635"/>
            <a:ext cx="2135505" cy="25908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dfd</a:t>
            </a:r>
            <a:r>
              <a:rPr lang="zh-CN" altLang="en-US" sz="1000">
                <a:solidFill>
                  <a:schemeClr val="tx1"/>
                </a:solidFill>
              </a:rPr>
              <a:t>字典（或</a:t>
            </a:r>
            <a:r>
              <a:rPr lang="en-US" altLang="zh-CN" sz="1000" b="1">
                <a:solidFill>
                  <a:srgbClr val="FF0000"/>
                </a:solidFill>
              </a:rPr>
              <a:t>token</a:t>
            </a:r>
            <a:r>
              <a:rPr lang="zh-CN" altLang="en-US" sz="1000">
                <a:solidFill>
                  <a:schemeClr val="tx1"/>
                </a:solidFill>
              </a:rPr>
              <a:t>）</a:t>
            </a:r>
            <a:endParaRPr lang="zh-CN" altLang="en-US" sz="1000">
              <a:solidFill>
                <a:schemeClr val="tx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741795" y="919480"/>
            <a:ext cx="1761490" cy="43434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构建</a:t>
            </a:r>
            <a:r>
              <a:rPr lang="en-US" altLang="zh-CN" sz="1200">
                <a:solidFill>
                  <a:schemeClr val="tx1"/>
                </a:solidFill>
              </a:rPr>
              <a:t>transformer</a:t>
            </a:r>
            <a:r>
              <a:rPr lang="zh-CN" altLang="en-US" sz="1200">
                <a:solidFill>
                  <a:schemeClr val="tx1"/>
                </a:solidFill>
              </a:rPr>
              <a:t>模型</a:t>
            </a:r>
            <a:r>
              <a:rPr lang="zh-CN" altLang="en-US" sz="1200" baseline="30000">
                <a:solidFill>
                  <a:schemeClr val="tx1"/>
                </a:solidFill>
                <a:uFillTx/>
              </a:rPr>
              <a:t>注</a:t>
            </a:r>
            <a:endParaRPr lang="zh-CN" altLang="en-US" sz="1200" baseline="30000">
              <a:solidFill>
                <a:schemeClr val="tx1"/>
              </a:solidFill>
              <a:uFillTx/>
            </a:endParaRPr>
          </a:p>
        </p:txBody>
      </p:sp>
      <p:cxnSp>
        <p:nvCxnSpPr>
          <p:cNvPr id="23" name="直接箭头连接符 22"/>
          <p:cNvCxnSpPr>
            <a:stCxn id="16" idx="3"/>
            <a:endCxn id="22" idx="1"/>
          </p:cNvCxnSpPr>
          <p:nvPr/>
        </p:nvCxnSpPr>
        <p:spPr>
          <a:xfrm>
            <a:off x="6261735" y="1136650"/>
            <a:ext cx="48006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8890635" y="919480"/>
            <a:ext cx="1761490" cy="43434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构建</a:t>
            </a:r>
            <a:r>
              <a:rPr sz="1200">
                <a:solidFill>
                  <a:schemeClr val="tx1"/>
                </a:solidFill>
              </a:rPr>
              <a:t>NLLLoss</a:t>
            </a:r>
            <a:endParaRPr sz="1200">
              <a:solidFill>
                <a:schemeClr val="tx1"/>
              </a:solidFill>
            </a:endParaRPr>
          </a:p>
        </p:txBody>
      </p:sp>
      <p:cxnSp>
        <p:nvCxnSpPr>
          <p:cNvPr id="25" name="直接箭头连接符 24"/>
          <p:cNvCxnSpPr>
            <a:stCxn id="22" idx="3"/>
            <a:endCxn id="24" idx="1"/>
          </p:cNvCxnSpPr>
          <p:nvPr/>
        </p:nvCxnSpPr>
        <p:spPr>
          <a:xfrm>
            <a:off x="8503285" y="1136650"/>
            <a:ext cx="38735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796290" y="1699895"/>
            <a:ext cx="1286510" cy="43434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200">
                <a:solidFill>
                  <a:schemeClr val="tx1"/>
                </a:solidFill>
              </a:rPr>
              <a:t>train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2647315" y="1699895"/>
            <a:ext cx="1286510" cy="43434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200">
                <a:solidFill>
                  <a:schemeClr val="tx1"/>
                </a:solidFill>
              </a:rPr>
              <a:t>evaluate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717415" y="1699895"/>
            <a:ext cx="1286510" cy="43434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200">
                <a:solidFill>
                  <a:schemeClr val="tx1"/>
                </a:solidFill>
              </a:rPr>
              <a:t>export</a:t>
            </a:r>
            <a:endParaRPr lang="en-US" sz="1200">
              <a:solidFill>
                <a:schemeClr val="tx1"/>
              </a:solidFill>
            </a:endParaRPr>
          </a:p>
        </p:txBody>
      </p:sp>
      <p:cxnSp>
        <p:nvCxnSpPr>
          <p:cNvPr id="29" name="直接箭头连接符 28"/>
          <p:cNvCxnSpPr>
            <a:stCxn id="26" idx="3"/>
            <a:endCxn id="27" idx="1"/>
          </p:cNvCxnSpPr>
          <p:nvPr/>
        </p:nvCxnSpPr>
        <p:spPr>
          <a:xfrm>
            <a:off x="2082800" y="1917065"/>
            <a:ext cx="56451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>
            <a:stCxn id="27" idx="3"/>
            <a:endCxn id="28" idx="1"/>
          </p:cNvCxnSpPr>
          <p:nvPr/>
        </p:nvCxnSpPr>
        <p:spPr>
          <a:xfrm>
            <a:off x="3933825" y="1917065"/>
            <a:ext cx="78359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610235" y="352425"/>
            <a:ext cx="1286510" cy="43434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200">
                <a:solidFill>
                  <a:schemeClr val="tx1"/>
                </a:solidFill>
              </a:rPr>
              <a:t>train</a:t>
            </a:r>
            <a:endParaRPr lang="en-US" sz="1200">
              <a:solidFill>
                <a:schemeClr val="tx1"/>
              </a:solidFill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5869305" y="5101590"/>
            <a:ext cx="6135370" cy="1254760"/>
            <a:chOff x="1520" y="2092"/>
            <a:chExt cx="9662" cy="1976"/>
          </a:xfrm>
        </p:grpSpPr>
        <p:pic>
          <p:nvPicPr>
            <p:cNvPr id="33" name="图片 3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729" y="2092"/>
              <a:ext cx="2233" cy="1815"/>
            </a:xfrm>
            <a:prstGeom prst="rect">
              <a:avLst/>
            </a:prstGeom>
          </p:spPr>
        </p:pic>
        <p:pic>
          <p:nvPicPr>
            <p:cNvPr id="34" name="图片 3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66" y="2092"/>
              <a:ext cx="1833" cy="856"/>
            </a:xfrm>
            <a:prstGeom prst="rect">
              <a:avLst/>
            </a:prstGeom>
          </p:spPr>
        </p:pic>
        <p:pic>
          <p:nvPicPr>
            <p:cNvPr id="35" name="图片 3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66" y="3334"/>
              <a:ext cx="5316" cy="735"/>
            </a:xfrm>
            <a:prstGeom prst="rect">
              <a:avLst/>
            </a:prstGeom>
          </p:spPr>
        </p:pic>
        <p:sp>
          <p:nvSpPr>
            <p:cNvPr id="37" name="文本框 36"/>
            <p:cNvSpPr txBox="1"/>
            <p:nvPr/>
          </p:nvSpPr>
          <p:spPr>
            <a:xfrm>
              <a:off x="1520" y="2694"/>
              <a:ext cx="1209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000"/>
                <a:t>train_data:</a:t>
              </a:r>
              <a:endParaRPr lang="en-US" altLang="zh-CN" sz="1000"/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5208" y="2092"/>
              <a:ext cx="816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000"/>
                <a:t>data:</a:t>
              </a:r>
              <a:endParaRPr lang="en-US" altLang="zh-CN" sz="1000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5352" y="2948"/>
              <a:ext cx="949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000"/>
                <a:t>targets</a:t>
              </a:r>
              <a:r>
                <a:rPr lang="en-US" altLang="zh-CN" sz="1000"/>
                <a:t>:</a:t>
              </a:r>
              <a:endParaRPr lang="en-US" altLang="zh-CN" sz="1000"/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2578100" y="911225"/>
            <a:ext cx="6457315" cy="2550160"/>
            <a:chOff x="831" y="5792"/>
            <a:chExt cx="10169" cy="4016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1" y="6952"/>
              <a:ext cx="7155" cy="1305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200" y="5792"/>
              <a:ext cx="2801" cy="4017"/>
            </a:xfrm>
            <a:prstGeom prst="rect">
              <a:avLst/>
            </a:prstGeom>
          </p:spPr>
        </p:pic>
        <p:cxnSp>
          <p:nvCxnSpPr>
            <p:cNvPr id="46" name="直接箭头连接符 45"/>
            <p:cNvCxnSpPr/>
            <p:nvPr/>
          </p:nvCxnSpPr>
          <p:spPr>
            <a:xfrm>
              <a:off x="6937" y="7179"/>
              <a:ext cx="1960" cy="2057"/>
            </a:xfrm>
            <a:prstGeom prst="straightConnector1">
              <a:avLst/>
            </a:prstGeom>
            <a:ln>
              <a:solidFill>
                <a:srgbClr val="FF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/>
            <p:cNvCxnSpPr/>
            <p:nvPr/>
          </p:nvCxnSpPr>
          <p:spPr>
            <a:xfrm>
              <a:off x="4423" y="7358"/>
              <a:ext cx="4719" cy="1552"/>
            </a:xfrm>
            <a:prstGeom prst="straightConnector1">
              <a:avLst/>
            </a:prstGeom>
            <a:ln>
              <a:solidFill>
                <a:srgbClr val="FF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箭头连接符 47"/>
            <p:cNvCxnSpPr/>
            <p:nvPr/>
          </p:nvCxnSpPr>
          <p:spPr>
            <a:xfrm>
              <a:off x="4048" y="7636"/>
              <a:ext cx="4538" cy="359"/>
            </a:xfrm>
            <a:prstGeom prst="straightConnector1">
              <a:avLst/>
            </a:prstGeom>
            <a:ln>
              <a:solidFill>
                <a:srgbClr val="FF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箭头连接符 48"/>
            <p:cNvCxnSpPr/>
            <p:nvPr/>
          </p:nvCxnSpPr>
          <p:spPr>
            <a:xfrm flipV="1">
              <a:off x="4733" y="7718"/>
              <a:ext cx="4947" cy="147"/>
            </a:xfrm>
            <a:prstGeom prst="straightConnector1">
              <a:avLst/>
            </a:prstGeom>
            <a:ln>
              <a:solidFill>
                <a:srgbClr val="FF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49"/>
            <p:cNvCxnSpPr/>
            <p:nvPr/>
          </p:nvCxnSpPr>
          <p:spPr>
            <a:xfrm flipV="1">
              <a:off x="5648" y="6363"/>
              <a:ext cx="4163" cy="1812"/>
            </a:xfrm>
            <a:prstGeom prst="straightConnector1">
              <a:avLst/>
            </a:prstGeom>
            <a:ln>
              <a:solidFill>
                <a:srgbClr val="FF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文本框 53"/>
          <p:cNvSpPr txBox="1"/>
          <p:nvPr/>
        </p:nvSpPr>
        <p:spPr>
          <a:xfrm>
            <a:off x="610235" y="6356985"/>
            <a:ext cx="50266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https://github.com/pytorch/examples/blob/master/word_language_model/model.py。</a:t>
            </a:r>
            <a:endParaRPr lang="zh-CN" altLang="en-US" sz="1000"/>
          </a:p>
          <a:p>
            <a:r>
              <a:rPr lang="zh-CN" altLang="en-US" sz="1000"/>
              <a:t>注</a:t>
            </a:r>
            <a:r>
              <a:rPr lang="en-US" altLang="zh-CN" sz="1000"/>
              <a:t>1</a:t>
            </a:r>
            <a:r>
              <a:rPr lang="zh-CN" altLang="en-US" sz="1000"/>
              <a:t>：后面会有</a:t>
            </a:r>
            <a:r>
              <a:rPr lang="en-US" altLang="zh-CN" sz="1000"/>
              <a:t>nn.Embedding</a:t>
            </a:r>
            <a:r>
              <a:rPr lang="zh-CN" altLang="en-US" sz="1000"/>
              <a:t>的详细介绍。</a:t>
            </a:r>
            <a:endParaRPr lang="zh-CN" altLang="en-US" sz="1000"/>
          </a:p>
        </p:txBody>
      </p:sp>
      <p:cxnSp>
        <p:nvCxnSpPr>
          <p:cNvPr id="55" name="直接箭头连接符 54"/>
          <p:cNvCxnSpPr/>
          <p:nvPr/>
        </p:nvCxnSpPr>
        <p:spPr>
          <a:xfrm>
            <a:off x="8489950" y="3511550"/>
            <a:ext cx="394335" cy="1440815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6" name="表格 55"/>
          <p:cNvGraphicFramePr/>
          <p:nvPr/>
        </p:nvGraphicFramePr>
        <p:xfrm>
          <a:off x="681990" y="3851275"/>
          <a:ext cx="518731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375475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 b="0">
                          <a:solidFill>
                            <a:schemeClr val="tx1"/>
                          </a:solidFill>
                          <a:cs typeface="+mn-lt"/>
                        </a:rPr>
                        <a:t>模块</a:t>
                      </a:r>
                      <a:endParaRPr lang="zh-CN" altLang="en-US" sz="1000" b="0">
                        <a:solidFill>
                          <a:schemeClr val="tx1"/>
                        </a:solidFill>
                        <a:cs typeface="+mn-lt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 b="0">
                          <a:solidFill>
                            <a:schemeClr val="tx1"/>
                          </a:solidFill>
                          <a:cs typeface="+mn-lt"/>
                        </a:rPr>
                        <a:t>描述</a:t>
                      </a:r>
                      <a:endParaRPr lang="zh-CN" altLang="en-US" sz="1000" b="0">
                        <a:solidFill>
                          <a:schemeClr val="tx1"/>
                        </a:solidFill>
                        <a:cs typeface="+mn-lt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cs typeface="+mn-lt"/>
                        </a:rPr>
                        <a:t>encoder</a:t>
                      </a:r>
                      <a:endParaRPr lang="en-US" altLang="zh-CN" sz="1000">
                        <a:cs typeface="+mn-lt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cs typeface="+mn-lt"/>
                        </a:rPr>
                        <a:t>nn.Embedding(ntoken, ninp)</a:t>
                      </a:r>
                      <a:r>
                        <a:rPr lang="zh-CN" altLang="en-US" sz="1000" baseline="30000">
                          <a:solidFill>
                            <a:schemeClr val="tx1"/>
                          </a:solidFill>
                          <a:uFillTx/>
                          <a:cs typeface="+mn-lt"/>
                        </a:rPr>
                        <a:t>注</a:t>
                      </a:r>
                      <a:r>
                        <a:rPr lang="en-US" altLang="zh-CN" sz="1000">
                          <a:cs typeface="+mn-lt"/>
                        </a:rPr>
                        <a:t>:</a:t>
                      </a:r>
                      <a:r>
                        <a:rPr lang="zh-CN" altLang="en-US" sz="1000">
                          <a:cs typeface="+mn-lt"/>
                        </a:rPr>
                        <a:t>词嵌入</a:t>
                      </a:r>
                      <a:r>
                        <a:rPr lang="en-US" altLang="zh-CN" sz="1000">
                          <a:cs typeface="+mn-lt"/>
                        </a:rPr>
                        <a:t>word embedding</a:t>
                      </a:r>
                      <a:endParaRPr lang="en-US" altLang="zh-CN" sz="1000">
                        <a:cs typeface="+mn-lt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cs typeface="+mn-lt"/>
                        </a:rPr>
                        <a:t>pos_encoder</a:t>
                      </a:r>
                      <a:endParaRPr lang="en-US" altLang="zh-CN" sz="1000">
                        <a:cs typeface="+mn-lt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>
                          <a:cs typeface="+mn-lt"/>
                        </a:rPr>
                        <a:t>PositionalEncoding(ninp, dropout)</a:t>
                      </a:r>
                      <a:endParaRPr lang="zh-CN" altLang="en-US" sz="1000">
                        <a:cs typeface="+mn-lt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cs typeface="+mn-lt"/>
                        </a:rPr>
                        <a:t>transformer_encoder</a:t>
                      </a:r>
                      <a:endParaRPr lang="en-US" altLang="zh-CN" sz="1000">
                        <a:cs typeface="+mn-lt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cs typeface="+mn-lt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cs typeface="+mn-lt"/>
                        </a:rPr>
                        <a:t>decoder</a:t>
                      </a:r>
                      <a:endParaRPr lang="en-US" altLang="zh-CN" sz="1000">
                        <a:cs typeface="+mn-lt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cs typeface="+mn-lt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cs typeface="+mn-lt"/>
                        </a:rPr>
                        <a:t>log_softmax</a:t>
                      </a:r>
                      <a:endParaRPr lang="en-US" altLang="zh-CN" sz="1000">
                        <a:cs typeface="+mn-lt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cs typeface="+mn-lt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4" name="表格 13"/>
          <p:cNvGraphicFramePr/>
          <p:nvPr/>
        </p:nvGraphicFramePr>
        <p:xfrm>
          <a:off x="1191260" y="1082040"/>
          <a:ext cx="10036175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6243"/>
                <a:gridCol w="920750"/>
                <a:gridCol w="1663700"/>
                <a:gridCol w="1539240"/>
                <a:gridCol w="2218690"/>
                <a:gridCol w="1384289"/>
                <a:gridCol w="169319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 b="0">
                          <a:solidFill>
                            <a:schemeClr val="tx1"/>
                          </a:solidFill>
                        </a:rPr>
                        <a:t>参数</a:t>
                      </a:r>
                      <a:endParaRPr lang="zh-CN" altLang="en-US" sz="10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cs typeface="+mn-lt"/>
                        </a:rPr>
                        <a:t>ntokens</a:t>
                      </a:r>
                      <a:endParaRPr lang="en-US" altLang="zh-CN" sz="1000" b="0">
                        <a:solidFill>
                          <a:schemeClr val="tx1"/>
                        </a:solidFill>
                        <a:cs typeface="+mn-lt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cs typeface="+mn-lt"/>
                        </a:rPr>
                        <a:t>emsize</a:t>
                      </a:r>
                      <a:endParaRPr lang="en-US" altLang="zh-CN" sz="1000" b="0">
                        <a:solidFill>
                          <a:schemeClr val="tx1"/>
                        </a:solidFill>
                        <a:cs typeface="+mn-lt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cs typeface="+mn-lt"/>
                        </a:rPr>
                        <a:t>nhead</a:t>
                      </a:r>
                      <a:endParaRPr lang="en-US" altLang="zh-CN" sz="1000" b="0">
                        <a:solidFill>
                          <a:schemeClr val="tx1"/>
                        </a:solidFill>
                        <a:cs typeface="+mn-lt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cs typeface="+mn-lt"/>
                        </a:rPr>
                        <a:t>nhind</a:t>
                      </a:r>
                      <a:endParaRPr lang="en-US" altLang="zh-CN" sz="1000" b="0">
                        <a:solidFill>
                          <a:schemeClr val="tx1"/>
                        </a:solidFill>
                        <a:cs typeface="+mn-lt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cs typeface="+mn-lt"/>
                        </a:rPr>
                        <a:t>nlayers</a:t>
                      </a:r>
                      <a:endParaRPr lang="en-US" altLang="zh-CN" sz="1000" b="0">
                        <a:solidFill>
                          <a:schemeClr val="tx1"/>
                        </a:solidFill>
                        <a:cs typeface="+mn-lt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cs typeface="+mn-lt"/>
                        </a:rPr>
                        <a:t>dropout</a:t>
                      </a:r>
                      <a:endParaRPr lang="en-US" altLang="zh-CN" sz="1000" b="0">
                        <a:solidFill>
                          <a:schemeClr val="tx1"/>
                        </a:solidFill>
                        <a:cs typeface="+mn-lt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 b="0">
                          <a:solidFill>
                            <a:schemeClr val="tx1"/>
                          </a:solidFill>
                        </a:rPr>
                        <a:t>含义</a:t>
                      </a:r>
                      <a:endParaRPr lang="zh-CN" altLang="en-US" sz="10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cs typeface="+mn-lt"/>
                        </a:rPr>
                        <a:t>token</a:t>
                      </a:r>
                      <a:r>
                        <a:rPr lang="zh-CN" altLang="en-US" sz="1000" b="0">
                          <a:solidFill>
                            <a:schemeClr val="tx1"/>
                          </a:solidFill>
                          <a:cs typeface="+mn-lt"/>
                        </a:rPr>
                        <a:t>的数量</a:t>
                      </a:r>
                      <a:endParaRPr lang="zh-CN" altLang="en-US" sz="1000" b="0">
                        <a:solidFill>
                          <a:schemeClr val="tx1"/>
                        </a:solidFill>
                        <a:cs typeface="+mn-lt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cs typeface="+mn-lt"/>
                        </a:rPr>
                        <a:t>size of word embeddings</a:t>
                      </a:r>
                      <a:endParaRPr lang="en-US" altLang="zh-CN" sz="1000" b="0">
                        <a:solidFill>
                          <a:schemeClr val="tx1"/>
                        </a:solidFill>
                        <a:cs typeface="+mn-lt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cs typeface="+mn-lt"/>
                        </a:rPr>
                        <a:t>the number of heads</a:t>
                      </a:r>
                      <a:endParaRPr lang="en-US" altLang="zh-CN" sz="1000" b="0">
                        <a:solidFill>
                          <a:schemeClr val="tx1"/>
                        </a:solidFill>
                        <a:cs typeface="+mn-lt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cs typeface="+mn-lt"/>
                        </a:rPr>
                        <a:t>number of hidden units per layer</a:t>
                      </a:r>
                      <a:endParaRPr lang="en-US" altLang="zh-CN" sz="1000" b="0">
                        <a:solidFill>
                          <a:schemeClr val="tx1"/>
                        </a:solidFill>
                        <a:cs typeface="+mn-lt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cs typeface="+mn-lt"/>
                        </a:rPr>
                        <a:t>number of layers</a:t>
                      </a:r>
                      <a:endParaRPr lang="en-US" altLang="zh-CN" sz="1000" b="0">
                        <a:solidFill>
                          <a:schemeClr val="tx1"/>
                        </a:solidFill>
                        <a:cs typeface="+mn-lt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cs typeface="+mn-lt"/>
                        </a:rPr>
                        <a:t>dropout applied to layers </a:t>
                      </a:r>
                      <a:endParaRPr lang="en-US" altLang="zh-CN" sz="1000" b="0">
                        <a:solidFill>
                          <a:schemeClr val="tx1"/>
                        </a:solidFill>
                        <a:cs typeface="+mn-lt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 b="0">
                          <a:solidFill>
                            <a:schemeClr val="tx1"/>
                          </a:solidFill>
                        </a:rPr>
                        <a:t>示例</a:t>
                      </a:r>
                      <a:endParaRPr lang="zh-CN" altLang="en-US" sz="10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cs typeface="+mn-lt"/>
                        </a:rPr>
                        <a:t>18371</a:t>
                      </a:r>
                      <a:endParaRPr lang="en-US" altLang="zh-CN" sz="1000" b="0">
                        <a:solidFill>
                          <a:schemeClr val="tx1"/>
                        </a:solidFill>
                        <a:cs typeface="+mn-lt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cs typeface="+mn-lt"/>
                        </a:rPr>
                        <a:t>200</a:t>
                      </a:r>
                      <a:endParaRPr lang="en-US" altLang="zh-CN" sz="1000" b="0">
                        <a:solidFill>
                          <a:schemeClr val="tx1"/>
                        </a:solidFill>
                        <a:cs typeface="+mn-lt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cs typeface="+mn-lt"/>
                        </a:rPr>
                        <a:t>2</a:t>
                      </a:r>
                      <a:endParaRPr lang="en-US" altLang="zh-CN" sz="1000" b="0">
                        <a:solidFill>
                          <a:schemeClr val="tx1"/>
                        </a:solidFill>
                        <a:cs typeface="+mn-lt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cs typeface="+mn-lt"/>
                        </a:rPr>
                        <a:t>200</a:t>
                      </a:r>
                      <a:endParaRPr lang="en-US" altLang="zh-CN" sz="1000" b="0">
                        <a:solidFill>
                          <a:schemeClr val="tx1"/>
                        </a:solidFill>
                        <a:cs typeface="+mn-lt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cs typeface="+mn-lt"/>
                        </a:rPr>
                        <a:t>2</a:t>
                      </a:r>
                      <a:endParaRPr lang="en-US" altLang="zh-CN" sz="1000" b="0">
                        <a:solidFill>
                          <a:schemeClr val="tx1"/>
                        </a:solidFill>
                        <a:cs typeface="+mn-lt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cs typeface="+mn-lt"/>
                        </a:rPr>
                        <a:t>0.2</a:t>
                      </a:r>
                      <a:endParaRPr lang="en-US" altLang="zh-CN" sz="1000" b="0">
                        <a:solidFill>
                          <a:schemeClr val="tx1"/>
                        </a:solidFill>
                        <a:cs typeface="+mn-lt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1191260" y="484505"/>
            <a:ext cx="1761490" cy="43434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构建</a:t>
            </a:r>
            <a:r>
              <a:rPr lang="en-US" altLang="zh-CN" sz="1200">
                <a:solidFill>
                  <a:schemeClr val="tx1"/>
                </a:solidFill>
              </a:rPr>
              <a:t>transformer</a:t>
            </a:r>
            <a:r>
              <a:rPr lang="zh-CN" altLang="en-US" sz="1200">
                <a:solidFill>
                  <a:schemeClr val="tx1"/>
                </a:solidFill>
              </a:rPr>
              <a:t>模型</a:t>
            </a:r>
            <a:r>
              <a:rPr lang="zh-CN" altLang="en-US" sz="1200" baseline="30000">
                <a:solidFill>
                  <a:schemeClr val="tx1"/>
                </a:solidFill>
                <a:uFillTx/>
              </a:rPr>
              <a:t>注</a:t>
            </a:r>
            <a:endParaRPr lang="zh-CN" altLang="en-US" sz="1200" baseline="30000">
              <a:solidFill>
                <a:schemeClr val="tx1"/>
              </a:solidFill>
              <a:uFillTx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1191260" y="484505"/>
            <a:ext cx="2269490" cy="43434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cs typeface="+mn-lt"/>
                <a:sym typeface="+mn-ea"/>
              </a:rPr>
              <a:t>nn.Embedding(ntoken, ninp)</a:t>
            </a:r>
            <a:endParaRPr lang="en-US" altLang="zh-CN" sz="1200" baseline="30000">
              <a:solidFill>
                <a:schemeClr val="tx1"/>
              </a:solidFill>
              <a:uFillTx/>
              <a:cs typeface="+mn-lt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81100" y="1116330"/>
            <a:ext cx="102743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cs typeface="+mn-lt"/>
              </a:rPr>
              <a:t>概念：</a:t>
            </a:r>
            <a:r>
              <a:rPr lang="zh-CN" altLang="en-US">
                <a:cs typeface="+mn-lt"/>
              </a:rPr>
              <a:t>“</a:t>
            </a:r>
            <a:r>
              <a:rPr lang="en-US" altLang="zh-CN">
                <a:cs typeface="+mn-lt"/>
                <a:sym typeface="+mn-ea"/>
              </a:rPr>
              <a:t>A</a:t>
            </a:r>
            <a:r>
              <a:rPr lang="zh-CN" altLang="en-US">
                <a:cs typeface="+mn-lt"/>
                <a:sym typeface="+mn-ea"/>
              </a:rPr>
              <a:t> simple lookup table that stores embeddings of a fixed dictionary and size.</a:t>
            </a:r>
            <a:r>
              <a:rPr lang="zh-CN" altLang="en-US">
                <a:cs typeface="+mn-lt"/>
              </a:rPr>
              <a:t>”本质是一个查找表，表里面的内容称之为</a:t>
            </a:r>
            <a:r>
              <a:rPr lang="en-US" altLang="zh-CN">
                <a:cs typeface="+mn-lt"/>
              </a:rPr>
              <a:t>(word)embedding</a:t>
            </a:r>
            <a:r>
              <a:rPr lang="zh-CN" altLang="en-US">
                <a:cs typeface="+mn-lt"/>
              </a:rPr>
              <a:t>。至到训练结束，</a:t>
            </a:r>
            <a:r>
              <a:rPr lang="en-US" altLang="zh-CN">
                <a:cs typeface="+mn-lt"/>
              </a:rPr>
              <a:t>embedding</a:t>
            </a:r>
            <a:r>
              <a:rPr lang="zh-CN" altLang="en-US">
                <a:cs typeface="+mn-lt"/>
              </a:rPr>
              <a:t>是动态变化</a:t>
            </a:r>
            <a:r>
              <a:rPr lang="en-US" altLang="zh-CN">
                <a:cs typeface="+mn-lt"/>
              </a:rPr>
              <a:t>(</a:t>
            </a:r>
            <a:r>
              <a:rPr lang="zh-CN" altLang="en-US">
                <a:cs typeface="+mn-lt"/>
              </a:rPr>
              <a:t>学习</a:t>
            </a:r>
            <a:r>
              <a:rPr lang="en-US" altLang="zh-CN">
                <a:cs typeface="+mn-lt"/>
              </a:rPr>
              <a:t>)</a:t>
            </a:r>
            <a:r>
              <a:rPr lang="zh-CN" altLang="en-US">
                <a:cs typeface="+mn-lt"/>
              </a:rPr>
              <a:t>的。</a:t>
            </a:r>
            <a:endParaRPr lang="zh-CN" altLang="en-US">
              <a:cs typeface="+mn-lt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335" y="1761490"/>
            <a:ext cx="6534150" cy="200025"/>
          </a:xfrm>
          <a:prstGeom prst="rect">
            <a:avLst/>
          </a:prstGeom>
        </p:spPr>
      </p:pic>
      <p:graphicFrame>
        <p:nvGraphicFramePr>
          <p:cNvPr id="7" name="表格 6"/>
          <p:cNvGraphicFramePr/>
          <p:nvPr/>
        </p:nvGraphicFramePr>
        <p:xfrm>
          <a:off x="6804660" y="2032635"/>
          <a:ext cx="150495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360"/>
                <a:gridCol w="380365"/>
                <a:gridCol w="413385"/>
                <a:gridCol w="37084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/>
          <p:nvPr/>
        </p:nvGraphicFramePr>
        <p:xfrm>
          <a:off x="1283335" y="2428875"/>
          <a:ext cx="4356100" cy="377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052"/>
                <a:gridCol w="368158"/>
                <a:gridCol w="377217"/>
                <a:gridCol w="367625"/>
                <a:gridCol w="376684"/>
                <a:gridCol w="351109"/>
                <a:gridCol w="376684"/>
                <a:gridCol w="368158"/>
                <a:gridCol w="376684"/>
                <a:gridCol w="350576"/>
                <a:gridCol w="350577"/>
                <a:gridCol w="350576"/>
              </a:tblGrid>
              <a:tr h="15811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63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下箭头 9"/>
          <p:cNvSpPr/>
          <p:nvPr/>
        </p:nvSpPr>
        <p:spPr>
          <a:xfrm>
            <a:off x="2414270" y="1972310"/>
            <a:ext cx="259080" cy="456565"/>
          </a:xfrm>
          <a:prstGeom prst="downArrow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2673350" y="1972310"/>
            <a:ext cx="1917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one hot</a:t>
            </a:r>
            <a:r>
              <a:rPr lang="zh-CN" altLang="en-US"/>
              <a:t>化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2" name="椭圆 11"/>
          <p:cNvSpPr/>
          <p:nvPr/>
        </p:nvSpPr>
        <p:spPr>
          <a:xfrm>
            <a:off x="6076950" y="3988435"/>
            <a:ext cx="290195" cy="341630"/>
          </a:xfrm>
          <a:prstGeom prst="ellipse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x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9195435" y="4392930"/>
            <a:ext cx="2643505" cy="116967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所以</a:t>
            </a:r>
            <a:r>
              <a:rPr lang="en-US" altLang="zh-CN">
                <a:solidFill>
                  <a:schemeClr val="tx1"/>
                </a:solidFill>
              </a:rPr>
              <a:t>,nn.Embedding</a:t>
            </a:r>
            <a:r>
              <a:rPr lang="zh-CN" altLang="en-US">
                <a:solidFill>
                  <a:schemeClr val="tx1"/>
                </a:solidFill>
              </a:rPr>
              <a:t>其本质是一个无</a:t>
            </a:r>
            <a:r>
              <a:rPr lang="en-US" altLang="zh-CN">
                <a:solidFill>
                  <a:schemeClr val="tx1"/>
                </a:solidFill>
              </a:rPr>
              <a:t>bias</a:t>
            </a:r>
            <a:r>
              <a:rPr lang="zh-CN" altLang="en-US">
                <a:solidFill>
                  <a:schemeClr val="tx1"/>
                </a:solidFill>
              </a:rPr>
              <a:t>的</a:t>
            </a:r>
            <a:r>
              <a:rPr lang="en-US" altLang="zh-CN">
                <a:solidFill>
                  <a:schemeClr val="tx1"/>
                </a:solidFill>
              </a:rPr>
              <a:t>nn.linear</a:t>
            </a:r>
            <a:r>
              <a:rPr lang="zh-CN" altLang="en-US">
                <a:solidFill>
                  <a:schemeClr val="tx1"/>
                </a:solidFill>
              </a:rPr>
              <a:t>层。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1191260" y="484505"/>
            <a:ext cx="2527935" cy="43434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cs typeface="+mn-lt"/>
                <a:sym typeface="+mn-ea"/>
              </a:rPr>
              <a:t>PositionalEncoding(ninp, dropout)</a:t>
            </a:r>
            <a:endParaRPr lang="en-US" altLang="zh-CN" sz="1200">
              <a:solidFill>
                <a:schemeClr val="tx1"/>
              </a:solidFill>
              <a:cs typeface="+mn-lt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1191260" y="484505"/>
            <a:ext cx="2527935" cy="43434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cs typeface="+mn-lt"/>
                <a:sym typeface="+mn-ea"/>
              </a:rPr>
              <a:t>PositionalEncoding(ninp, dropout)</a:t>
            </a:r>
            <a:endParaRPr lang="en-US" altLang="zh-CN" sz="1200">
              <a:solidFill>
                <a:schemeClr val="tx1"/>
              </a:solidFill>
              <a:cs typeface="+mn-lt"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980805" y="752475"/>
            <a:ext cx="879475" cy="30289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linear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9054465" y="243840"/>
            <a:ext cx="732155" cy="261620"/>
          </a:xfrm>
          <a:prstGeom prst="round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s</a:t>
            </a:r>
            <a:r>
              <a:rPr lang="en-US" altLang="zh-CN" sz="1200">
                <a:solidFill>
                  <a:schemeClr val="tx1"/>
                </a:solidFill>
              </a:rPr>
              <a:t>src</a:t>
            </a:r>
            <a:endParaRPr lang="en-US" altLang="zh-CN" sz="1200">
              <a:solidFill>
                <a:schemeClr val="tx1"/>
              </a:solidFill>
            </a:endParaRPr>
          </a:p>
        </p:txBody>
      </p:sp>
      <p:cxnSp>
        <p:nvCxnSpPr>
          <p:cNvPr id="8" name="直接箭头连接符 7"/>
          <p:cNvCxnSpPr>
            <a:stCxn id="7" idx="2"/>
            <a:endCxn id="5" idx="0"/>
          </p:cNvCxnSpPr>
          <p:nvPr/>
        </p:nvCxnSpPr>
        <p:spPr>
          <a:xfrm>
            <a:off x="9420860" y="505460"/>
            <a:ext cx="0" cy="2470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>
            <a:stCxn id="5" idx="2"/>
            <a:endCxn id="6" idx="0"/>
          </p:cNvCxnSpPr>
          <p:nvPr/>
        </p:nvCxnSpPr>
        <p:spPr>
          <a:xfrm>
            <a:off x="9420860" y="1055370"/>
            <a:ext cx="0" cy="2844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>
            <a:off x="9192260" y="490220"/>
            <a:ext cx="0" cy="2470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/>
          <p:nvPr/>
        </p:nvCxnSpPr>
        <p:spPr>
          <a:xfrm>
            <a:off x="9674860" y="495300"/>
            <a:ext cx="0" cy="2470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95" y="1137285"/>
            <a:ext cx="7315200" cy="57150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-600075" y="5683250"/>
            <a:ext cx="770636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注</a:t>
            </a:r>
            <a:r>
              <a:rPr lang="en-US" altLang="zh-CN" sz="1000"/>
              <a:t>1</a:t>
            </a:r>
            <a:r>
              <a:rPr lang="zh-CN" altLang="en-US" sz="1000"/>
              <a:t>：python3.8/site-packages/torch/nn/functional.py：</a:t>
            </a:r>
            <a:r>
              <a:rPr lang="en-US" altLang="zh-CN" sz="1000"/>
              <a:t>L4636</a:t>
            </a:r>
            <a:endParaRPr lang="en-US" altLang="zh-CN" sz="1000"/>
          </a:p>
        </p:txBody>
      </p:sp>
      <p:sp>
        <p:nvSpPr>
          <p:cNvPr id="26" name="矩形 25"/>
          <p:cNvSpPr/>
          <p:nvPr/>
        </p:nvSpPr>
        <p:spPr>
          <a:xfrm>
            <a:off x="8806180" y="1355090"/>
            <a:ext cx="241300" cy="30289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q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9300210" y="1344930"/>
            <a:ext cx="241300" cy="30289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k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9786620" y="1334770"/>
            <a:ext cx="241300" cy="30289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v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8633460" y="1867535"/>
            <a:ext cx="586105" cy="30289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scale</a:t>
            </a:r>
            <a:endParaRPr lang="en-US" altLang="zh-CN" sz="1200">
              <a:solidFill>
                <a:schemeClr val="tx1"/>
              </a:solidFill>
            </a:endParaRPr>
          </a:p>
        </p:txBody>
      </p:sp>
      <p:cxnSp>
        <p:nvCxnSpPr>
          <p:cNvPr id="33" name="肘形连接符 32"/>
          <p:cNvCxnSpPr>
            <a:stCxn id="5" idx="2"/>
            <a:endCxn id="26" idx="0"/>
          </p:cNvCxnSpPr>
          <p:nvPr/>
        </p:nvCxnSpPr>
        <p:spPr>
          <a:xfrm rot="5400000">
            <a:off x="9023985" y="958215"/>
            <a:ext cx="299720" cy="49403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肘形连接符 33"/>
          <p:cNvCxnSpPr>
            <a:stCxn id="5" idx="2"/>
            <a:endCxn id="31" idx="0"/>
          </p:cNvCxnSpPr>
          <p:nvPr/>
        </p:nvCxnSpPr>
        <p:spPr>
          <a:xfrm rot="5400000" flipV="1">
            <a:off x="9524365" y="951865"/>
            <a:ext cx="279400" cy="48641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>
            <a:stCxn id="26" idx="2"/>
            <a:endCxn id="32" idx="0"/>
          </p:cNvCxnSpPr>
          <p:nvPr/>
        </p:nvCxnSpPr>
        <p:spPr>
          <a:xfrm>
            <a:off x="8926830" y="1657985"/>
            <a:ext cx="0" cy="20955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/>
          <p:cNvSpPr/>
          <p:nvPr/>
        </p:nvSpPr>
        <p:spPr>
          <a:xfrm>
            <a:off x="7959725" y="2402205"/>
            <a:ext cx="2922905" cy="34925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view(tgt_len, bs*num_h, head_d)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8782685" y="2984500"/>
            <a:ext cx="1254125" cy="34925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transpose(0,1)</a:t>
            </a:r>
            <a:endParaRPr lang="en-US" altLang="zh-CN" sz="1200">
              <a:solidFill>
                <a:schemeClr val="tx1"/>
              </a:solidFill>
            </a:endParaRPr>
          </a:p>
        </p:txBody>
      </p:sp>
      <p:cxnSp>
        <p:nvCxnSpPr>
          <p:cNvPr id="53" name="肘形连接符 52"/>
          <p:cNvCxnSpPr>
            <a:stCxn id="32" idx="2"/>
            <a:endCxn id="51" idx="0"/>
          </p:cNvCxnSpPr>
          <p:nvPr/>
        </p:nvCxnSpPr>
        <p:spPr>
          <a:xfrm rot="5400000" flipV="1">
            <a:off x="9058275" y="2038350"/>
            <a:ext cx="231775" cy="494665"/>
          </a:xfrm>
          <a:prstGeom prst="bentConnector3">
            <a:avLst>
              <a:gd name="adj1" fmla="val 50137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肘形连接符 53"/>
          <p:cNvCxnSpPr>
            <a:stCxn id="30" idx="2"/>
            <a:endCxn id="51" idx="0"/>
          </p:cNvCxnSpPr>
          <p:nvPr/>
        </p:nvCxnSpPr>
        <p:spPr>
          <a:xfrm rot="5400000" flipV="1">
            <a:off x="9043670" y="2024380"/>
            <a:ext cx="754380" cy="3175"/>
          </a:xfrm>
          <a:prstGeom prst="bentConnector3">
            <a:avLst>
              <a:gd name="adj1" fmla="val 49958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肘形连接符 54"/>
          <p:cNvCxnSpPr>
            <a:stCxn id="31" idx="2"/>
            <a:endCxn id="51" idx="0"/>
          </p:cNvCxnSpPr>
          <p:nvPr/>
        </p:nvCxnSpPr>
        <p:spPr>
          <a:xfrm rot="5400000">
            <a:off x="9281795" y="1776730"/>
            <a:ext cx="764540" cy="485775"/>
          </a:xfrm>
          <a:prstGeom prst="bentConnector3">
            <a:avLst>
              <a:gd name="adj1" fmla="val 84925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>
            <a:stCxn id="51" idx="2"/>
            <a:endCxn id="52" idx="0"/>
          </p:cNvCxnSpPr>
          <p:nvPr/>
        </p:nvCxnSpPr>
        <p:spPr>
          <a:xfrm flipH="1">
            <a:off x="9410065" y="2751455"/>
            <a:ext cx="11430" cy="2330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8" name="图片 5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395" y="1936115"/>
            <a:ext cx="4581525" cy="180975"/>
          </a:xfrm>
          <a:prstGeom prst="rect">
            <a:avLst/>
          </a:prstGeom>
        </p:spPr>
      </p:pic>
      <p:sp>
        <p:nvSpPr>
          <p:cNvPr id="59" name="矩形 58"/>
          <p:cNvSpPr/>
          <p:nvPr/>
        </p:nvSpPr>
        <p:spPr>
          <a:xfrm>
            <a:off x="7959090" y="3600450"/>
            <a:ext cx="2923540" cy="34925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点乘</a:t>
            </a:r>
            <a:r>
              <a:rPr lang="en-US" altLang="zh-CN" sz="1200">
                <a:solidFill>
                  <a:schemeClr val="tx1"/>
                </a:solidFill>
              </a:rPr>
              <a:t>:bmm(q, k.transpose(1, 2))</a:t>
            </a:r>
            <a:endParaRPr lang="en-US" altLang="zh-CN" sz="1200">
              <a:solidFill>
                <a:schemeClr val="tx1"/>
              </a:solidFill>
            </a:endParaRPr>
          </a:p>
        </p:txBody>
      </p:sp>
      <p:cxnSp>
        <p:nvCxnSpPr>
          <p:cNvPr id="60" name="直接箭头连接符 59"/>
          <p:cNvCxnSpPr>
            <a:stCxn id="52" idx="2"/>
            <a:endCxn id="59" idx="0"/>
          </p:cNvCxnSpPr>
          <p:nvPr/>
        </p:nvCxnSpPr>
        <p:spPr>
          <a:xfrm>
            <a:off x="9410065" y="3333750"/>
            <a:ext cx="10795" cy="2667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图片 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260" y="2505075"/>
            <a:ext cx="2752725" cy="142875"/>
          </a:xfrm>
          <a:prstGeom prst="rect">
            <a:avLst/>
          </a:prstGeom>
        </p:spPr>
      </p:pic>
      <p:sp>
        <p:nvSpPr>
          <p:cNvPr id="62" name="矩形 61"/>
          <p:cNvSpPr/>
          <p:nvPr/>
        </p:nvSpPr>
        <p:spPr>
          <a:xfrm>
            <a:off x="7838440" y="4159250"/>
            <a:ext cx="3142615" cy="34925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mask:attn_output_weights += attn_mask</a:t>
            </a:r>
            <a:endParaRPr lang="en-US" altLang="zh-CN" sz="1200">
              <a:solidFill>
                <a:schemeClr val="tx1"/>
              </a:solidFill>
            </a:endParaRPr>
          </a:p>
        </p:txBody>
      </p:sp>
      <p:cxnSp>
        <p:nvCxnSpPr>
          <p:cNvPr id="63" name="直接箭头连接符 62"/>
          <p:cNvCxnSpPr>
            <a:stCxn id="59" idx="2"/>
            <a:endCxn id="62" idx="0"/>
          </p:cNvCxnSpPr>
          <p:nvPr/>
        </p:nvCxnSpPr>
        <p:spPr>
          <a:xfrm flipH="1">
            <a:off x="9410065" y="3949700"/>
            <a:ext cx="10795" cy="20955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/>
          <p:cNvSpPr/>
          <p:nvPr/>
        </p:nvSpPr>
        <p:spPr>
          <a:xfrm>
            <a:off x="7852410" y="4746625"/>
            <a:ext cx="3142615" cy="34925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softmax(X, dim=-1); (40, 35, 35)</a:t>
            </a:r>
            <a:endParaRPr lang="en-US" altLang="zh-CN" sz="1200">
              <a:solidFill>
                <a:schemeClr val="tx1"/>
              </a:solidFill>
            </a:endParaRPr>
          </a:p>
        </p:txBody>
      </p:sp>
      <p:cxnSp>
        <p:nvCxnSpPr>
          <p:cNvPr id="66" name="直接箭头连接符 65"/>
          <p:cNvCxnSpPr>
            <a:stCxn id="62" idx="2"/>
            <a:endCxn id="64" idx="0"/>
          </p:cNvCxnSpPr>
          <p:nvPr/>
        </p:nvCxnSpPr>
        <p:spPr>
          <a:xfrm>
            <a:off x="9410065" y="4508500"/>
            <a:ext cx="13970" cy="2381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/>
          <p:cNvSpPr/>
          <p:nvPr/>
        </p:nvSpPr>
        <p:spPr>
          <a:xfrm>
            <a:off x="7852410" y="5334000"/>
            <a:ext cx="3142615" cy="34925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x=dropout(x); p=0.2, (40, 35, 35)</a:t>
            </a:r>
            <a:endParaRPr lang="en-US" altLang="zh-CN" sz="1200">
              <a:solidFill>
                <a:schemeClr val="tx1"/>
              </a:solidFill>
            </a:endParaRPr>
          </a:p>
        </p:txBody>
      </p:sp>
      <p:cxnSp>
        <p:nvCxnSpPr>
          <p:cNvPr id="68" name="直接箭头连接符 67"/>
          <p:cNvCxnSpPr>
            <a:stCxn id="64" idx="2"/>
            <a:endCxn id="67" idx="0"/>
          </p:cNvCxnSpPr>
          <p:nvPr/>
        </p:nvCxnSpPr>
        <p:spPr>
          <a:xfrm>
            <a:off x="9424035" y="5095875"/>
            <a:ext cx="0" cy="2381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矩形 68"/>
          <p:cNvSpPr/>
          <p:nvPr/>
        </p:nvSpPr>
        <p:spPr>
          <a:xfrm>
            <a:off x="7844155" y="5928360"/>
            <a:ext cx="3142615" cy="34925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bmm(x, v),(40, 35, 100)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3215005" y="2984500"/>
            <a:ext cx="3142615" cy="34925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形变（</a:t>
            </a:r>
            <a:r>
              <a:rPr lang="en-US" altLang="zh-CN" sz="1200">
                <a:solidFill>
                  <a:schemeClr val="tx1"/>
                </a:solidFill>
              </a:rPr>
              <a:t>35, 20, 200</a:t>
            </a:r>
            <a:r>
              <a:rPr lang="zh-CN" altLang="en-US" sz="1200">
                <a:solidFill>
                  <a:schemeClr val="tx1"/>
                </a:solidFill>
              </a:rPr>
              <a:t>）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4345940" y="3623945"/>
            <a:ext cx="879475" cy="30289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linear</a:t>
            </a:r>
            <a:endParaRPr lang="en-US" altLang="zh-CN" sz="1200">
              <a:solidFill>
                <a:schemeClr val="tx1"/>
              </a:solidFill>
            </a:endParaRPr>
          </a:p>
        </p:txBody>
      </p:sp>
      <p:cxnSp>
        <p:nvCxnSpPr>
          <p:cNvPr id="74" name="直接箭头连接符 73"/>
          <p:cNvCxnSpPr>
            <a:stCxn id="70" idx="2"/>
            <a:endCxn id="73" idx="0"/>
          </p:cNvCxnSpPr>
          <p:nvPr/>
        </p:nvCxnSpPr>
        <p:spPr>
          <a:xfrm flipH="1">
            <a:off x="4785995" y="3333750"/>
            <a:ext cx="635" cy="2901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1191260" y="484505"/>
            <a:ext cx="2527935" cy="43434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cs typeface="+mn-lt"/>
                <a:sym typeface="+mn-ea"/>
              </a:rPr>
              <a:t>PositionalEncoding(ninp, dropout)</a:t>
            </a:r>
            <a:endParaRPr lang="en-US" altLang="zh-CN" sz="1200">
              <a:solidFill>
                <a:schemeClr val="tx1"/>
              </a:solidFill>
              <a:cs typeface="+mn-lt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1260" y="1167130"/>
            <a:ext cx="5953125" cy="157162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8980805" y="752475"/>
            <a:ext cx="879475" cy="30289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self_attn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8974455" y="1339850"/>
            <a:ext cx="889000" cy="30289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dropout.2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9054465" y="243840"/>
            <a:ext cx="732155" cy="261620"/>
          </a:xfrm>
          <a:prstGeom prst="round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s</a:t>
            </a:r>
            <a:r>
              <a:rPr lang="en-US" altLang="zh-CN" sz="1200">
                <a:solidFill>
                  <a:schemeClr val="tx1"/>
                </a:solidFill>
              </a:rPr>
              <a:t>src</a:t>
            </a:r>
            <a:endParaRPr lang="en-US" altLang="zh-CN" sz="1200">
              <a:solidFill>
                <a:schemeClr val="tx1"/>
              </a:solidFill>
            </a:endParaRPr>
          </a:p>
        </p:txBody>
      </p:sp>
      <p:cxnSp>
        <p:nvCxnSpPr>
          <p:cNvPr id="8" name="直接箭头连接符 7"/>
          <p:cNvCxnSpPr>
            <a:stCxn id="7" idx="2"/>
            <a:endCxn id="5" idx="0"/>
          </p:cNvCxnSpPr>
          <p:nvPr/>
        </p:nvCxnSpPr>
        <p:spPr>
          <a:xfrm>
            <a:off x="9420860" y="505460"/>
            <a:ext cx="0" cy="2470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>
            <a:stCxn id="5" idx="2"/>
            <a:endCxn id="6" idx="0"/>
          </p:cNvCxnSpPr>
          <p:nvPr/>
        </p:nvCxnSpPr>
        <p:spPr>
          <a:xfrm flipH="1">
            <a:off x="9418955" y="1055370"/>
            <a:ext cx="1905" cy="2844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8873490" y="2324100"/>
            <a:ext cx="1082040" cy="30289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(layer)norm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9310370" y="1907540"/>
            <a:ext cx="219710" cy="229870"/>
          </a:xfrm>
          <a:prstGeom prst="ellipse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加号 13"/>
          <p:cNvSpPr/>
          <p:nvPr/>
        </p:nvSpPr>
        <p:spPr>
          <a:xfrm>
            <a:off x="9310370" y="1918335"/>
            <a:ext cx="208915" cy="198755"/>
          </a:xfrm>
          <a:prstGeom prst="mathPlu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5" name="肘形连接符 14"/>
          <p:cNvCxnSpPr>
            <a:stCxn id="7" idx="1"/>
            <a:endCxn id="14" idx="2"/>
          </p:cNvCxnSpPr>
          <p:nvPr/>
        </p:nvCxnSpPr>
        <p:spPr>
          <a:xfrm rot="10800000" flipH="1" flipV="1">
            <a:off x="9053830" y="374650"/>
            <a:ext cx="283845" cy="1643380"/>
          </a:xfrm>
          <a:prstGeom prst="bentConnector3">
            <a:avLst>
              <a:gd name="adj1" fmla="val -83893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6" idx="2"/>
            <a:endCxn id="14" idx="3"/>
          </p:cNvCxnSpPr>
          <p:nvPr/>
        </p:nvCxnSpPr>
        <p:spPr>
          <a:xfrm flipH="1">
            <a:off x="9415145" y="1642745"/>
            <a:ext cx="3810" cy="3016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stCxn id="13" idx="4"/>
            <a:endCxn id="10" idx="0"/>
          </p:cNvCxnSpPr>
          <p:nvPr/>
        </p:nvCxnSpPr>
        <p:spPr>
          <a:xfrm flipH="1">
            <a:off x="9414510" y="2137410"/>
            <a:ext cx="5715" cy="18669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8981440" y="3145790"/>
            <a:ext cx="879475" cy="30289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linear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8853805" y="3691255"/>
            <a:ext cx="1176020" cy="30289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activation(rel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8981440" y="4288790"/>
            <a:ext cx="879475" cy="30289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dropout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8981440" y="4813935"/>
            <a:ext cx="879475" cy="30289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linear</a:t>
            </a:r>
            <a:endParaRPr lang="en-US" altLang="zh-CN" sz="1200">
              <a:solidFill>
                <a:schemeClr val="tx1"/>
              </a:solidFill>
            </a:endParaRPr>
          </a:p>
        </p:txBody>
      </p:sp>
      <p:cxnSp>
        <p:nvCxnSpPr>
          <p:cNvPr id="23" name="直接箭头连接符 22"/>
          <p:cNvCxnSpPr>
            <a:stCxn id="18" idx="2"/>
            <a:endCxn id="19" idx="0"/>
          </p:cNvCxnSpPr>
          <p:nvPr/>
        </p:nvCxnSpPr>
        <p:spPr>
          <a:xfrm>
            <a:off x="9421495" y="3448685"/>
            <a:ext cx="20320" cy="24257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stCxn id="19" idx="2"/>
            <a:endCxn id="20" idx="0"/>
          </p:cNvCxnSpPr>
          <p:nvPr/>
        </p:nvCxnSpPr>
        <p:spPr>
          <a:xfrm flipH="1">
            <a:off x="9421495" y="3994150"/>
            <a:ext cx="20320" cy="29464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stCxn id="20" idx="2"/>
            <a:endCxn id="21" idx="0"/>
          </p:cNvCxnSpPr>
          <p:nvPr/>
        </p:nvCxnSpPr>
        <p:spPr>
          <a:xfrm>
            <a:off x="9421495" y="4591685"/>
            <a:ext cx="0" cy="22225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组合 28"/>
          <p:cNvGrpSpPr/>
          <p:nvPr/>
        </p:nvGrpSpPr>
        <p:grpSpPr>
          <a:xfrm>
            <a:off x="9310370" y="5714365"/>
            <a:ext cx="219710" cy="229870"/>
            <a:chOff x="17431" y="3853"/>
            <a:chExt cx="346" cy="362"/>
          </a:xfrm>
        </p:grpSpPr>
        <p:sp>
          <p:nvSpPr>
            <p:cNvPr id="27" name="加号 26"/>
            <p:cNvSpPr/>
            <p:nvPr/>
          </p:nvSpPr>
          <p:spPr>
            <a:xfrm>
              <a:off x="17431" y="3877"/>
              <a:ext cx="329" cy="313"/>
            </a:xfrm>
            <a:prstGeom prst="mathPlus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17431" y="3853"/>
              <a:ext cx="346" cy="36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6" name="圆角矩形 35"/>
          <p:cNvSpPr/>
          <p:nvPr/>
        </p:nvSpPr>
        <p:spPr>
          <a:xfrm>
            <a:off x="9055735" y="2779395"/>
            <a:ext cx="732155" cy="186055"/>
          </a:xfrm>
          <a:prstGeom prst="round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s</a:t>
            </a:r>
            <a:r>
              <a:rPr lang="en-US" altLang="zh-CN" sz="1200">
                <a:solidFill>
                  <a:schemeClr val="tx1"/>
                </a:solidFill>
              </a:rPr>
              <a:t>src</a:t>
            </a:r>
            <a:endParaRPr lang="en-US" altLang="zh-CN" sz="1200">
              <a:solidFill>
                <a:schemeClr val="tx1"/>
              </a:solidFill>
            </a:endParaRPr>
          </a:p>
        </p:txBody>
      </p:sp>
      <p:cxnSp>
        <p:nvCxnSpPr>
          <p:cNvPr id="37" name="直接箭头连接符 36"/>
          <p:cNvCxnSpPr>
            <a:stCxn id="10" idx="2"/>
            <a:endCxn id="36" idx="0"/>
          </p:cNvCxnSpPr>
          <p:nvPr/>
        </p:nvCxnSpPr>
        <p:spPr>
          <a:xfrm>
            <a:off x="9414510" y="2626995"/>
            <a:ext cx="7620" cy="1524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>
            <a:stCxn id="36" idx="2"/>
            <a:endCxn id="18" idx="0"/>
          </p:cNvCxnSpPr>
          <p:nvPr/>
        </p:nvCxnSpPr>
        <p:spPr>
          <a:xfrm flipH="1">
            <a:off x="9421495" y="2965450"/>
            <a:ext cx="635" cy="18034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肘形连接符 38"/>
          <p:cNvCxnSpPr>
            <a:stCxn id="36" idx="1"/>
            <a:endCxn id="28" idx="2"/>
          </p:cNvCxnSpPr>
          <p:nvPr/>
        </p:nvCxnSpPr>
        <p:spPr>
          <a:xfrm rot="10800000" flipH="1" flipV="1">
            <a:off x="9055735" y="2872740"/>
            <a:ext cx="254635" cy="2956560"/>
          </a:xfrm>
          <a:prstGeom prst="bentConnector3">
            <a:avLst>
              <a:gd name="adj1" fmla="val -93516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/>
          <p:cNvSpPr/>
          <p:nvPr/>
        </p:nvSpPr>
        <p:spPr>
          <a:xfrm>
            <a:off x="8975090" y="5276850"/>
            <a:ext cx="879475" cy="30289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dropout</a:t>
            </a:r>
            <a:endParaRPr lang="en-US" altLang="zh-CN" sz="1200">
              <a:solidFill>
                <a:schemeClr val="tx1"/>
              </a:solidFill>
            </a:endParaRPr>
          </a:p>
        </p:txBody>
      </p:sp>
      <p:cxnSp>
        <p:nvCxnSpPr>
          <p:cNvPr id="41" name="直接箭头连接符 40"/>
          <p:cNvCxnSpPr>
            <a:stCxn id="21" idx="2"/>
            <a:endCxn id="40" idx="0"/>
          </p:cNvCxnSpPr>
          <p:nvPr/>
        </p:nvCxnSpPr>
        <p:spPr>
          <a:xfrm flipH="1">
            <a:off x="9415145" y="5116830"/>
            <a:ext cx="6350" cy="16002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>
            <a:stCxn id="40" idx="2"/>
            <a:endCxn id="28" idx="0"/>
          </p:cNvCxnSpPr>
          <p:nvPr/>
        </p:nvCxnSpPr>
        <p:spPr>
          <a:xfrm>
            <a:off x="9415145" y="5579745"/>
            <a:ext cx="5080" cy="13462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/>
          <p:cNvSpPr/>
          <p:nvPr/>
        </p:nvSpPr>
        <p:spPr>
          <a:xfrm>
            <a:off x="8984615" y="6069330"/>
            <a:ext cx="879475" cy="30289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norm</a:t>
            </a:r>
            <a:endParaRPr lang="en-US" altLang="zh-CN" sz="1200">
              <a:solidFill>
                <a:schemeClr val="tx1"/>
              </a:solidFill>
            </a:endParaRPr>
          </a:p>
        </p:txBody>
      </p:sp>
      <p:cxnSp>
        <p:nvCxnSpPr>
          <p:cNvPr id="44" name="直接箭头连接符 43"/>
          <p:cNvCxnSpPr>
            <a:stCxn id="28" idx="4"/>
            <a:endCxn id="43" idx="0"/>
          </p:cNvCxnSpPr>
          <p:nvPr/>
        </p:nvCxnSpPr>
        <p:spPr>
          <a:xfrm>
            <a:off x="9420225" y="5944235"/>
            <a:ext cx="4445" cy="1250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>
            <a:off x="9192260" y="490220"/>
            <a:ext cx="0" cy="2470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/>
          <p:nvPr/>
        </p:nvCxnSpPr>
        <p:spPr>
          <a:xfrm>
            <a:off x="9674860" y="495300"/>
            <a:ext cx="0" cy="2470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圆角矩形 46"/>
          <p:cNvSpPr/>
          <p:nvPr/>
        </p:nvSpPr>
        <p:spPr>
          <a:xfrm>
            <a:off x="9048750" y="6509385"/>
            <a:ext cx="732155" cy="186055"/>
          </a:xfrm>
          <a:prstGeom prst="round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s</a:t>
            </a:r>
            <a:r>
              <a:rPr lang="en-US" altLang="zh-CN" sz="1200">
                <a:solidFill>
                  <a:schemeClr val="tx1"/>
                </a:solidFill>
              </a:rPr>
              <a:t>src</a:t>
            </a:r>
            <a:endParaRPr lang="en-US" altLang="zh-CN" sz="1200">
              <a:solidFill>
                <a:schemeClr val="tx1"/>
              </a:solidFill>
            </a:endParaRPr>
          </a:p>
        </p:txBody>
      </p:sp>
      <p:cxnSp>
        <p:nvCxnSpPr>
          <p:cNvPr id="48" name="直接箭头连接符 47"/>
          <p:cNvCxnSpPr>
            <a:stCxn id="43" idx="2"/>
            <a:endCxn id="47" idx="0"/>
          </p:cNvCxnSpPr>
          <p:nvPr/>
        </p:nvCxnSpPr>
        <p:spPr>
          <a:xfrm flipH="1">
            <a:off x="9415145" y="6372225"/>
            <a:ext cx="9525" cy="13716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图片 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5115" y="709930"/>
            <a:ext cx="1171575" cy="2028825"/>
          </a:xfrm>
          <a:prstGeom prst="rect">
            <a:avLst/>
          </a:prstGeom>
        </p:spPr>
      </p:pic>
      <p:pic>
        <p:nvPicPr>
          <p:cNvPr id="50" name="图片 4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085" y="4016375"/>
            <a:ext cx="1604010" cy="202374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1260" y="3119755"/>
            <a:ext cx="7315200" cy="57150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814705" y="3113405"/>
            <a:ext cx="376555" cy="2705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aseline="30000">
                <a:solidFill>
                  <a:schemeClr val="tx1"/>
                </a:solidFill>
                <a:uFillTx/>
              </a:rPr>
              <a:t>注</a:t>
            </a:r>
            <a:endParaRPr lang="zh-CN" altLang="en-US" baseline="30000">
              <a:solidFill>
                <a:schemeClr val="tx1"/>
              </a:solidFill>
              <a:uFillTx/>
            </a:endParaRPr>
          </a:p>
        </p:txBody>
      </p:sp>
      <p:sp>
        <p:nvSpPr>
          <p:cNvPr id="11" name="左中括号 10"/>
          <p:cNvSpPr/>
          <p:nvPr/>
        </p:nvSpPr>
        <p:spPr>
          <a:xfrm>
            <a:off x="8562975" y="459105"/>
            <a:ext cx="135890" cy="5363845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8046720" y="2609850"/>
            <a:ext cx="459740" cy="355600"/>
          </a:xfrm>
          <a:prstGeom prst="ellipse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x2</a:t>
            </a:r>
            <a:endParaRPr lang="en-US" altLang="zh-CN" sz="10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1191260" y="484505"/>
            <a:ext cx="2527935" cy="43434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  <a:cs typeface="+mn-lt"/>
                <a:sym typeface="+mn-ea"/>
              </a:rPr>
              <a:t>output = self.decoder(output)</a:t>
            </a:r>
            <a:endParaRPr lang="en-US" altLang="zh-CN" sz="1200">
              <a:solidFill>
                <a:schemeClr val="tx1"/>
              </a:solidFill>
              <a:cs typeface="+mn-lt"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980805" y="752475"/>
            <a:ext cx="879475" cy="30289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self_attn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8974455" y="1339850"/>
            <a:ext cx="889000" cy="30289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dropout.2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9054465" y="243840"/>
            <a:ext cx="732155" cy="261620"/>
          </a:xfrm>
          <a:prstGeom prst="round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s</a:t>
            </a:r>
            <a:r>
              <a:rPr lang="en-US" altLang="zh-CN" sz="1200">
                <a:solidFill>
                  <a:schemeClr val="tx1"/>
                </a:solidFill>
              </a:rPr>
              <a:t>src</a:t>
            </a:r>
            <a:endParaRPr lang="en-US" altLang="zh-CN" sz="1200">
              <a:solidFill>
                <a:schemeClr val="tx1"/>
              </a:solidFill>
            </a:endParaRPr>
          </a:p>
        </p:txBody>
      </p:sp>
      <p:cxnSp>
        <p:nvCxnSpPr>
          <p:cNvPr id="8" name="直接箭头连接符 7"/>
          <p:cNvCxnSpPr>
            <a:stCxn id="7" idx="2"/>
            <a:endCxn id="5" idx="0"/>
          </p:cNvCxnSpPr>
          <p:nvPr/>
        </p:nvCxnSpPr>
        <p:spPr>
          <a:xfrm>
            <a:off x="9420860" y="505460"/>
            <a:ext cx="0" cy="2470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>
            <a:stCxn id="5" idx="2"/>
            <a:endCxn id="6" idx="0"/>
          </p:cNvCxnSpPr>
          <p:nvPr/>
        </p:nvCxnSpPr>
        <p:spPr>
          <a:xfrm flipH="1">
            <a:off x="9418955" y="1055370"/>
            <a:ext cx="1905" cy="2844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8873490" y="2324100"/>
            <a:ext cx="1082040" cy="30289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(layer)norm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9310370" y="1907540"/>
            <a:ext cx="219710" cy="229870"/>
          </a:xfrm>
          <a:prstGeom prst="ellipse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加号 13"/>
          <p:cNvSpPr/>
          <p:nvPr/>
        </p:nvSpPr>
        <p:spPr>
          <a:xfrm>
            <a:off x="9310370" y="1918335"/>
            <a:ext cx="208915" cy="198755"/>
          </a:xfrm>
          <a:prstGeom prst="mathPlus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5" name="肘形连接符 14"/>
          <p:cNvCxnSpPr>
            <a:stCxn id="7" idx="1"/>
            <a:endCxn id="14" idx="2"/>
          </p:cNvCxnSpPr>
          <p:nvPr/>
        </p:nvCxnSpPr>
        <p:spPr>
          <a:xfrm rot="10800000" flipH="1" flipV="1">
            <a:off x="9053830" y="374650"/>
            <a:ext cx="283845" cy="1643380"/>
          </a:xfrm>
          <a:prstGeom prst="bentConnector3">
            <a:avLst>
              <a:gd name="adj1" fmla="val -83893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6" idx="2"/>
            <a:endCxn id="14" idx="3"/>
          </p:cNvCxnSpPr>
          <p:nvPr/>
        </p:nvCxnSpPr>
        <p:spPr>
          <a:xfrm flipH="1">
            <a:off x="9415145" y="1642745"/>
            <a:ext cx="3810" cy="3016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stCxn id="13" idx="4"/>
            <a:endCxn id="10" idx="0"/>
          </p:cNvCxnSpPr>
          <p:nvPr/>
        </p:nvCxnSpPr>
        <p:spPr>
          <a:xfrm flipH="1">
            <a:off x="9414510" y="2137410"/>
            <a:ext cx="5715" cy="18669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8981440" y="3145790"/>
            <a:ext cx="879475" cy="30289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linear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8853805" y="3691255"/>
            <a:ext cx="1176020" cy="30289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activation(rel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8981440" y="4288790"/>
            <a:ext cx="879475" cy="30289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dropout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8981440" y="4813935"/>
            <a:ext cx="879475" cy="30289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linear</a:t>
            </a:r>
            <a:endParaRPr lang="en-US" altLang="zh-CN" sz="1200">
              <a:solidFill>
                <a:schemeClr val="tx1"/>
              </a:solidFill>
            </a:endParaRPr>
          </a:p>
        </p:txBody>
      </p:sp>
      <p:cxnSp>
        <p:nvCxnSpPr>
          <p:cNvPr id="23" name="直接箭头连接符 22"/>
          <p:cNvCxnSpPr>
            <a:stCxn id="18" idx="2"/>
            <a:endCxn id="19" idx="0"/>
          </p:cNvCxnSpPr>
          <p:nvPr/>
        </p:nvCxnSpPr>
        <p:spPr>
          <a:xfrm>
            <a:off x="9421495" y="3448685"/>
            <a:ext cx="20320" cy="24257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stCxn id="19" idx="2"/>
            <a:endCxn id="20" idx="0"/>
          </p:cNvCxnSpPr>
          <p:nvPr/>
        </p:nvCxnSpPr>
        <p:spPr>
          <a:xfrm flipH="1">
            <a:off x="9421495" y="3994150"/>
            <a:ext cx="20320" cy="29464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stCxn id="20" idx="2"/>
            <a:endCxn id="21" idx="0"/>
          </p:cNvCxnSpPr>
          <p:nvPr/>
        </p:nvCxnSpPr>
        <p:spPr>
          <a:xfrm>
            <a:off x="9421495" y="4591685"/>
            <a:ext cx="0" cy="22225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组合 28"/>
          <p:cNvGrpSpPr/>
          <p:nvPr/>
        </p:nvGrpSpPr>
        <p:grpSpPr>
          <a:xfrm>
            <a:off x="9310370" y="5714365"/>
            <a:ext cx="219710" cy="229870"/>
            <a:chOff x="17431" y="3853"/>
            <a:chExt cx="346" cy="362"/>
          </a:xfrm>
        </p:grpSpPr>
        <p:sp>
          <p:nvSpPr>
            <p:cNvPr id="27" name="加号 26"/>
            <p:cNvSpPr/>
            <p:nvPr/>
          </p:nvSpPr>
          <p:spPr>
            <a:xfrm>
              <a:off x="17431" y="3877"/>
              <a:ext cx="329" cy="313"/>
            </a:xfrm>
            <a:prstGeom prst="mathPlus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17431" y="3853"/>
              <a:ext cx="346" cy="36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6" name="圆角矩形 35"/>
          <p:cNvSpPr/>
          <p:nvPr/>
        </p:nvSpPr>
        <p:spPr>
          <a:xfrm>
            <a:off x="9055735" y="2779395"/>
            <a:ext cx="732155" cy="186055"/>
          </a:xfrm>
          <a:prstGeom prst="round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s</a:t>
            </a:r>
            <a:r>
              <a:rPr lang="en-US" altLang="zh-CN" sz="1200">
                <a:solidFill>
                  <a:schemeClr val="tx1"/>
                </a:solidFill>
              </a:rPr>
              <a:t>src</a:t>
            </a:r>
            <a:endParaRPr lang="en-US" altLang="zh-CN" sz="1200">
              <a:solidFill>
                <a:schemeClr val="tx1"/>
              </a:solidFill>
            </a:endParaRPr>
          </a:p>
        </p:txBody>
      </p:sp>
      <p:cxnSp>
        <p:nvCxnSpPr>
          <p:cNvPr id="37" name="直接箭头连接符 36"/>
          <p:cNvCxnSpPr>
            <a:stCxn id="10" idx="2"/>
            <a:endCxn id="36" idx="0"/>
          </p:cNvCxnSpPr>
          <p:nvPr/>
        </p:nvCxnSpPr>
        <p:spPr>
          <a:xfrm>
            <a:off x="9414510" y="2626995"/>
            <a:ext cx="7620" cy="1524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>
            <a:stCxn id="36" idx="2"/>
            <a:endCxn id="18" idx="0"/>
          </p:cNvCxnSpPr>
          <p:nvPr/>
        </p:nvCxnSpPr>
        <p:spPr>
          <a:xfrm flipH="1">
            <a:off x="9421495" y="2965450"/>
            <a:ext cx="635" cy="18034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肘形连接符 38"/>
          <p:cNvCxnSpPr>
            <a:stCxn id="36" idx="1"/>
            <a:endCxn id="28" idx="2"/>
          </p:cNvCxnSpPr>
          <p:nvPr/>
        </p:nvCxnSpPr>
        <p:spPr>
          <a:xfrm rot="10800000" flipH="1" flipV="1">
            <a:off x="9055735" y="2872740"/>
            <a:ext cx="254635" cy="2956560"/>
          </a:xfrm>
          <a:prstGeom prst="bentConnector3">
            <a:avLst>
              <a:gd name="adj1" fmla="val -93516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/>
          <p:cNvSpPr/>
          <p:nvPr/>
        </p:nvSpPr>
        <p:spPr>
          <a:xfrm>
            <a:off x="8975090" y="5276850"/>
            <a:ext cx="879475" cy="30289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dropout</a:t>
            </a:r>
            <a:endParaRPr lang="en-US" altLang="zh-CN" sz="1200">
              <a:solidFill>
                <a:schemeClr val="tx1"/>
              </a:solidFill>
            </a:endParaRPr>
          </a:p>
        </p:txBody>
      </p:sp>
      <p:cxnSp>
        <p:nvCxnSpPr>
          <p:cNvPr id="41" name="直接箭头连接符 40"/>
          <p:cNvCxnSpPr>
            <a:stCxn id="21" idx="2"/>
            <a:endCxn id="40" idx="0"/>
          </p:cNvCxnSpPr>
          <p:nvPr/>
        </p:nvCxnSpPr>
        <p:spPr>
          <a:xfrm flipH="1">
            <a:off x="9415145" y="5116830"/>
            <a:ext cx="6350" cy="16002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>
            <a:stCxn id="40" idx="2"/>
            <a:endCxn id="28" idx="0"/>
          </p:cNvCxnSpPr>
          <p:nvPr/>
        </p:nvCxnSpPr>
        <p:spPr>
          <a:xfrm>
            <a:off x="9415145" y="5579745"/>
            <a:ext cx="5080" cy="13462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/>
          <p:cNvSpPr/>
          <p:nvPr/>
        </p:nvSpPr>
        <p:spPr>
          <a:xfrm>
            <a:off x="8984615" y="6069330"/>
            <a:ext cx="879475" cy="30289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>
                <a:solidFill>
                  <a:schemeClr val="tx1"/>
                </a:solidFill>
              </a:rPr>
              <a:t>norm</a:t>
            </a:r>
            <a:endParaRPr lang="en-US" altLang="zh-CN" sz="1200">
              <a:solidFill>
                <a:schemeClr val="tx1"/>
              </a:solidFill>
            </a:endParaRPr>
          </a:p>
        </p:txBody>
      </p:sp>
      <p:cxnSp>
        <p:nvCxnSpPr>
          <p:cNvPr id="44" name="直接箭头连接符 43"/>
          <p:cNvCxnSpPr>
            <a:stCxn id="28" idx="4"/>
            <a:endCxn id="43" idx="0"/>
          </p:cNvCxnSpPr>
          <p:nvPr/>
        </p:nvCxnSpPr>
        <p:spPr>
          <a:xfrm>
            <a:off x="9420225" y="5944235"/>
            <a:ext cx="4445" cy="1250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>
            <a:off x="9192260" y="490220"/>
            <a:ext cx="0" cy="2470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/>
          <p:nvPr/>
        </p:nvCxnSpPr>
        <p:spPr>
          <a:xfrm>
            <a:off x="9674860" y="495300"/>
            <a:ext cx="0" cy="24701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圆角矩形 46"/>
          <p:cNvSpPr/>
          <p:nvPr/>
        </p:nvSpPr>
        <p:spPr>
          <a:xfrm>
            <a:off x="9048750" y="6509385"/>
            <a:ext cx="732155" cy="186055"/>
          </a:xfrm>
          <a:prstGeom prst="round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s</a:t>
            </a:r>
            <a:r>
              <a:rPr lang="en-US" altLang="zh-CN" sz="1200">
                <a:solidFill>
                  <a:schemeClr val="tx1"/>
                </a:solidFill>
              </a:rPr>
              <a:t>src</a:t>
            </a:r>
            <a:endParaRPr lang="en-US" altLang="zh-CN" sz="1200">
              <a:solidFill>
                <a:schemeClr val="tx1"/>
              </a:solidFill>
            </a:endParaRPr>
          </a:p>
        </p:txBody>
      </p:sp>
      <p:cxnSp>
        <p:nvCxnSpPr>
          <p:cNvPr id="48" name="直接箭头连接符 47"/>
          <p:cNvCxnSpPr>
            <a:stCxn id="43" idx="2"/>
            <a:endCxn id="47" idx="0"/>
          </p:cNvCxnSpPr>
          <p:nvPr/>
        </p:nvCxnSpPr>
        <p:spPr>
          <a:xfrm flipH="1">
            <a:off x="9415145" y="6372225"/>
            <a:ext cx="9525" cy="13716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图片 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5115" y="709930"/>
            <a:ext cx="1171575" cy="2028825"/>
          </a:xfrm>
          <a:prstGeom prst="rect">
            <a:avLst/>
          </a:prstGeom>
        </p:spPr>
      </p:pic>
      <p:pic>
        <p:nvPicPr>
          <p:cNvPr id="50" name="图片 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085" y="4016375"/>
            <a:ext cx="1604010" cy="2023745"/>
          </a:xfrm>
          <a:prstGeom prst="rect">
            <a:avLst/>
          </a:prstGeom>
        </p:spPr>
      </p:pic>
      <p:sp>
        <p:nvSpPr>
          <p:cNvPr id="11" name="左中括号 10"/>
          <p:cNvSpPr/>
          <p:nvPr/>
        </p:nvSpPr>
        <p:spPr>
          <a:xfrm>
            <a:off x="8562975" y="459105"/>
            <a:ext cx="135890" cy="5363845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8046720" y="2609850"/>
            <a:ext cx="459740" cy="355600"/>
          </a:xfrm>
          <a:prstGeom prst="ellipse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</a:rPr>
              <a:t>x2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2054860" y="2137410"/>
            <a:ext cx="2185035" cy="29273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linear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2047240" y="1510665"/>
            <a:ext cx="2192655" cy="396875"/>
          </a:xfrm>
          <a:prstGeom prst="round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output(35, 20, 200)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34" name="直接箭头连接符 33"/>
          <p:cNvCxnSpPr>
            <a:stCxn id="33" idx="2"/>
            <a:endCxn id="32" idx="0"/>
          </p:cNvCxnSpPr>
          <p:nvPr/>
        </p:nvCxnSpPr>
        <p:spPr>
          <a:xfrm>
            <a:off x="3143885" y="1907540"/>
            <a:ext cx="3810" cy="22987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圆角矩形 50"/>
          <p:cNvSpPr/>
          <p:nvPr/>
        </p:nvSpPr>
        <p:spPr>
          <a:xfrm>
            <a:off x="1903095" y="2686050"/>
            <a:ext cx="2508250" cy="376555"/>
          </a:xfrm>
          <a:prstGeom prst="round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output(35, 20, ntoken)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52" name="直接箭头连接符 51"/>
          <p:cNvCxnSpPr>
            <a:stCxn id="32" idx="2"/>
            <a:endCxn id="51" idx="0"/>
          </p:cNvCxnSpPr>
          <p:nvPr/>
        </p:nvCxnSpPr>
        <p:spPr>
          <a:xfrm>
            <a:off x="3147695" y="2430145"/>
            <a:ext cx="9525" cy="2559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1983740" y="3282315"/>
            <a:ext cx="2346960" cy="29273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log_softmax(dim=-1)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12" name="直接箭头连接符 11"/>
          <p:cNvCxnSpPr>
            <a:stCxn id="51" idx="2"/>
            <a:endCxn id="4" idx="0"/>
          </p:cNvCxnSpPr>
          <p:nvPr/>
        </p:nvCxnSpPr>
        <p:spPr>
          <a:xfrm>
            <a:off x="3157220" y="3062605"/>
            <a:ext cx="0" cy="21971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圆角矩形 29"/>
          <p:cNvSpPr/>
          <p:nvPr/>
        </p:nvSpPr>
        <p:spPr>
          <a:xfrm>
            <a:off x="1810385" y="3891915"/>
            <a:ext cx="2693670" cy="396875"/>
          </a:xfrm>
          <a:prstGeom prst="round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output(35, 20, ntoken)</a:t>
            </a:r>
            <a:endParaRPr lang="en-US" altLang="zh-CN">
              <a:solidFill>
                <a:schemeClr val="tx1"/>
              </a:solidFill>
            </a:endParaRPr>
          </a:p>
        </p:txBody>
      </p:sp>
      <p:cxnSp>
        <p:nvCxnSpPr>
          <p:cNvPr id="31" name="直接箭头连接符 30"/>
          <p:cNvCxnSpPr>
            <a:stCxn id="4" idx="2"/>
            <a:endCxn id="30" idx="0"/>
          </p:cNvCxnSpPr>
          <p:nvPr/>
        </p:nvCxnSpPr>
        <p:spPr>
          <a:xfrm>
            <a:off x="3157220" y="3575050"/>
            <a:ext cx="0" cy="31686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940435" y="845820"/>
            <a:ext cx="109372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https://pytorch.org/tutorials/beginner/translation_transformer.html</a:t>
            </a:r>
            <a:endParaRPr lang="zh-CN" altLang="en-US"/>
          </a:p>
          <a:p>
            <a:r>
              <a:rPr lang="zh-CN" altLang="en-US"/>
              <a:t>https://nlp.seas.harvard.edu/2018/04/03/attention.html#batches-and-masking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2068</Words>
  <Application>WPS 演示</Application>
  <PresentationFormat>宽屏</PresentationFormat>
  <Paragraphs>600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宋体</vt:lpstr>
      <vt:lpstr>Wingdings</vt:lpstr>
      <vt:lpstr>DejaVu Sans</vt:lpstr>
      <vt:lpstr>Arial Black</vt:lpstr>
      <vt:lpstr>文泉驿微米黑</vt:lpstr>
      <vt:lpstr>微软雅黑</vt:lpstr>
      <vt:lpstr>宋体</vt:lpstr>
      <vt:lpstr>Arial Unicode MS</vt:lpstr>
      <vt:lpstr>Office 主题​​</vt:lpstr>
      <vt:lpstr>transformer源码阅读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intsig</dc:creator>
  <cp:lastModifiedBy>张腾</cp:lastModifiedBy>
  <cp:revision>10</cp:revision>
  <dcterms:created xsi:type="dcterms:W3CDTF">2022-01-13T10:40:34Z</dcterms:created>
  <dcterms:modified xsi:type="dcterms:W3CDTF">2022-01-13T10:40:34Z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2052-11.1.0.10702</vt:lpwstr>
  </property>
</Properties>
</file>